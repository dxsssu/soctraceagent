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88952" cy="6858000"/>
  <p:notesSz cx="6858000" cy="9144000"/>
  <p:defaultTextStyle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"/>
</file>

<file path=ppt/viewProps.xml><?xml version="1.0" encoding="utf-8"?>
<p:viewPr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600" b="1" dirty="0" smtClean="0">
                <a:solidFill>
                  <a:srgbClr val="0F172A"/>
                </a:solidFill>
              </a:rPr>
              <a:t>导师汇报</a:t>
            </a:r>
          </a:p>
        </p:txBody>
      </p:sp>
      <p:sp>
        <p:nvSpPr>
          <p:cNvPr id="3" name="Hero"/>
          <p:cNvSpPr txBox="1"/>
          <p:nvPr/>
        </p:nvSpPr>
        <p:spPr>
          <a:xfrm>
            <a:off x="731520" y="1280160"/>
            <a:ext cx="5486400" cy="19202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3000" b="1" dirty="0" smtClean="0">
                <a:solidFill>
                  <a:srgbClr val="0F172A"/>
                </a:solidFill>
              </a:rPr>
              <a:t>SOCAgent</a:t>
            </a:r>
          </a:p>
          <a:p>
            <a:r>
              <a:rPr lang="zh-CN" sz="3000" b="1" dirty="0" smtClean="0">
                <a:solidFill>
                  <a:srgbClr val="0F172A"/>
                </a:solidFill>
              </a:rPr>
              <a:t>阶段性进展汇报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49808" y="3337560"/>
            <a:ext cx="5303520" cy="11887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800" b="0" dirty="0" smtClean="0">
                <a:solidFill>
                  <a:srgbClr val="475569"/>
                </a:solidFill>
              </a:rPr>
              <a:t>面向安全告警溯源场景的三角色多智能体原型</a:t>
            </a:r>
          </a:p>
          <a:p>
            <a:r>
              <a:rPr lang="zh-CN" sz="1800" b="0" dirty="0" smtClean="0">
                <a:solidFill>
                  <a:srgbClr val="475569"/>
                </a:solidFill>
              </a:rPr>
              <a:t>当前重点：打通 workflow、在开源数据集上持续验证与调优</a:t>
            </a:r>
          </a:p>
        </p:txBody>
      </p:sp>
      <p:sp>
        <p:nvSpPr>
          <p:cNvPr id="5" name="Card1"/>
          <p:cNvSpPr txBox="1"/>
          <p:nvPr/>
        </p:nvSpPr>
        <p:spPr>
          <a:xfrm>
            <a:off x="6492240" y="1234440"/>
            <a:ext cx="1828800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800" b="1" dirty="0" smtClean="0">
                <a:solidFill>
                  <a:srgbClr val="FFFFFF"/>
                </a:solidFill>
              </a:rPr>
              <a:t>Planner</a:t>
            </a:r>
          </a:p>
          <a:p>
            <a:r>
              <a:rPr lang="zh-CN" sz="1800" b="1" dirty="0" smtClean="0">
                <a:solidFill>
                  <a:srgbClr val="FFFFFF"/>
                </a:solidFill>
              </a:rPr>
              <a:t>任务规划</a:t>
            </a:r>
          </a:p>
        </p:txBody>
      </p:sp>
      <p:sp>
        <p:nvSpPr>
          <p:cNvPr id="6" name="Card2"/>
          <p:cNvSpPr txBox="1"/>
          <p:nvPr/>
        </p:nvSpPr>
        <p:spPr>
          <a:xfrm>
            <a:off x="8503920" y="1234440"/>
            <a:ext cx="1828800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800" b="1" dirty="0" smtClean="0">
                <a:solidFill>
                  <a:srgbClr val="FFFFFF"/>
                </a:solidFill>
              </a:rPr>
              <a:t>Executor</a:t>
            </a:r>
          </a:p>
          <a:p>
            <a:r>
              <a:rPr lang="zh-CN" sz="1800" b="1" dirty="0" smtClean="0">
                <a:solidFill>
                  <a:srgbClr val="FFFFFF"/>
                </a:solidFill>
              </a:rPr>
              <a:t>执行检索</a:t>
            </a:r>
          </a:p>
        </p:txBody>
      </p:sp>
      <p:sp>
        <p:nvSpPr>
          <p:cNvPr id="7" name="Card3"/>
          <p:cNvSpPr txBox="1"/>
          <p:nvPr/>
        </p:nvSpPr>
        <p:spPr>
          <a:xfrm>
            <a:off x="10515600" y="1234440"/>
            <a:ext cx="1005840" cy="960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500" b="1" dirty="0" smtClean="0">
                <a:solidFill>
                  <a:srgbClr val="FFFFFF"/>
                </a:solidFill>
              </a:rPr>
              <a:t>Reviewer</a:t>
            </a:r>
          </a:p>
          <a:p>
            <a:r>
              <a:rPr lang="zh-CN" sz="1500" b="1" dirty="0" smtClean="0">
                <a:solidFill>
                  <a:srgbClr val="FFFFFF"/>
                </a:solidFill>
              </a:rPr>
              <a:t>复盘</a:t>
            </a:r>
          </a:p>
        </p:txBody>
      </p:sp>
      <p:sp>
        <p:nvSpPr>
          <p:cNvPr id="8" name="Flow"/>
          <p:cNvSpPr txBox="1"/>
          <p:nvPr/>
        </p:nvSpPr>
        <p:spPr>
          <a:xfrm>
            <a:off x="6492240" y="2743200"/>
            <a:ext cx="5029200" cy="21031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zh-CN" sz="1700" b="1" dirty="0" smtClean="0">
                <a:solidFill>
                  <a:srgbClr val="0F172A"/>
                </a:solidFill>
              </a:rPr>
              <a:t>Event</a:t>
            </a:r>
          </a:p>
          <a:p>
            <a:r>
              <a:rPr lang="zh-CN" sz="1700" b="1" dirty="0" smtClean="0">
                <a:solidFill>
                  <a:srgbClr val="0F172A"/>
                </a:solidFill>
              </a:rPr>
              <a:t>↓</a:t>
            </a:r>
          </a:p>
          <a:p>
            <a:r>
              <a:rPr lang="zh-CN" sz="1700" b="1" dirty="0" smtClean="0">
                <a:solidFill>
                  <a:srgbClr val="0F172A"/>
                </a:solidFill>
              </a:rPr>
              <a:t>TTT</a:t>
            </a:r>
          </a:p>
          <a:p>
            <a:r>
              <a:rPr lang="zh-CN" sz="1700" b="1" dirty="0" smtClean="0">
                <a:solidFill>
                  <a:srgbClr val="0F172A"/>
                </a:solidFill>
              </a:rPr>
              <a:t>↓</a:t>
            </a:r>
          </a:p>
          <a:p>
            <a:r>
              <a:rPr lang="zh-CN" sz="1700" b="1" dirty="0" smtClean="0">
                <a:solidFill>
                  <a:srgbClr val="0F172A"/>
                </a:solidFill>
              </a:rPr>
              <a:t>Execution</a:t>
            </a:r>
          </a:p>
          <a:p>
            <a:r>
              <a:rPr lang="zh-CN" sz="1700" b="1" dirty="0" smtClean="0">
                <a:solidFill>
                  <a:srgbClr val="0F172A"/>
                </a:solidFill>
              </a:rPr>
              <a:t>↓</a:t>
            </a:r>
          </a:p>
          <a:p>
            <a:r>
              <a:rPr lang="zh-CN" sz="1700" b="1" dirty="0" smtClean="0">
                <a:solidFill>
                  <a:srgbClr val="0F172A"/>
                </a:solidFill>
              </a:rPr>
              <a:t>RoundReview</a:t>
            </a:r>
          </a:p>
          <a:p>
            <a:r>
              <a:rPr lang="zh-CN" sz="1700" b="1" dirty="0" smtClean="0">
                <a:solidFill>
                  <a:srgbClr val="0F172A"/>
                </a:solidFill>
              </a:rPr>
              <a:t>↓</a:t>
            </a:r>
          </a:p>
          <a:p>
            <a:r>
              <a:rPr lang="zh-CN" sz="1700" b="1" dirty="0" smtClean="0">
                <a:solidFill>
                  <a:srgbClr val="0F172A"/>
                </a:solidFill>
              </a:rPr>
              <a:t>Next-round TTT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731520" y="603504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200" b="0" dirty="0" smtClean="0">
                <a:solidFill>
                  <a:srgbClr val="64748B"/>
                </a:solidFill>
              </a:rPr>
              <a:t>生成时间：2026-06-08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600" b="1" dirty="0" smtClean="0">
                <a:solidFill>
                  <a:srgbClr val="0F172A"/>
                </a:solidFill>
              </a:rPr>
              <a:t>1. 当前整体进展</a:t>
            </a:r>
          </a:p>
        </p:txBody>
      </p:sp>
      <p:sp>
        <p:nvSpPr>
          <p:cNvPr id="3" name="L"/>
          <p:cNvSpPr txBox="1"/>
          <p:nvPr/>
        </p:nvSpPr>
        <p:spPr>
          <a:xfrm>
            <a:off x="640080" y="1143000"/>
            <a:ext cx="5303520" cy="214884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r>
              <a:rPr lang="zh-CN" sz="1750" b="0" dirty="0" smtClean="0">
                <a:solidFill>
                  <a:srgbClr val="0F172A"/>
                </a:solidFill>
              </a:rPr>
              <a:t>1. 已打通多角色闭环 workflow</a:t>
            </a:r>
          </a:p>
          <a:p>
            <a:r>
              <a:rPr lang="zh-CN" sz="1750" b="0" dirty="0" smtClean="0">
                <a:solidFill>
                  <a:srgbClr val="0F172A"/>
                </a:solidFill>
              </a:rPr>
              <a:t>• Planner 生成 TTT（Traceback Task Tree）</a:t>
            </a:r>
          </a:p>
          <a:p>
            <a:r>
              <a:rPr lang="zh-CN" sz="1750" b="0" dirty="0" smtClean="0">
                <a:solidFill>
                  <a:srgbClr val="0F172A"/>
                </a:solidFill>
              </a:rPr>
              <a:t>• Executor 领取 L3 叶子节点并执行</a:t>
            </a:r>
          </a:p>
          <a:p>
            <a:r>
              <a:rPr lang="zh-CN" sz="1750" b="0" dirty="0" smtClean="0">
                <a:solidFill>
                  <a:srgbClr val="0F172A"/>
                </a:solidFill>
              </a:rPr>
              <a:t>• Reviewer 生成 RoundReview，并驱动下一轮 replanning</a:t>
            </a:r>
          </a:p>
          <a:p>
            <a:r>
              <a:rPr lang="zh-CN" sz="1750" b="0" dirty="0" smtClean="0">
                <a:solidFill>
                  <a:srgbClr val="0F172A"/>
                </a:solidFill>
              </a:rPr>
              <a:t>• 核心链路已形成 Event -&gt; TTT -&gt; Execution -&gt; RoundReview -&gt; TTT</a:t>
            </a:r>
          </a:p>
        </p:txBody>
      </p:sp>
      <p:sp>
        <p:nvSpPr>
          <p:cNvPr id="4" name="R"/>
          <p:cNvSpPr txBox="1"/>
          <p:nvPr/>
        </p:nvSpPr>
        <p:spPr>
          <a:xfrm>
            <a:off x="6263640" y="1143000"/>
            <a:ext cx="5303520" cy="214884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txBody>
          <a:bodyPr wrap="square" lIns="91440" tIns="45720" rIns="91440" bIns="45720"/>
          <a:lstStyle/>
          <a:p>
            <a:r>
              <a:rPr lang="zh-CN" sz="1750" b="0" dirty="0" smtClean="0">
                <a:solidFill>
                  <a:srgbClr val="0F172A"/>
                </a:solidFill>
              </a:rPr>
              <a:t>2. 当前验证方式</a:t>
            </a:r>
          </a:p>
          <a:p>
            <a:r>
              <a:rPr lang="zh-CN" sz="1750" b="0" dirty="0" smtClean="0">
                <a:solidFill>
                  <a:srgbClr val="0F172A"/>
                </a:solidFill>
              </a:rPr>
              <a:t>• 基于 SQLite 共享状态，支持多进程协同</a:t>
            </a:r>
          </a:p>
          <a:p>
            <a:r>
              <a:rPr lang="zh-CN" sz="1750" b="0" dirty="0" smtClean="0">
                <a:solidFill>
                  <a:srgbClr val="0F172A"/>
                </a:solidFill>
              </a:rPr>
              <a:t>• 通过 Web 首页创建事件，在 war room 观察实时推进</a:t>
            </a:r>
          </a:p>
          <a:p>
            <a:r>
              <a:rPr lang="zh-CN" sz="1750" b="0" dirty="0" smtClean="0">
                <a:solidFill>
                  <a:srgbClr val="0F172A"/>
                </a:solidFill>
              </a:rPr>
              <a:t>• 已有多轮闭环烟雾测试脚本，可持续验证整体链路</a:t>
            </a:r>
          </a:p>
        </p:txBody>
      </p:sp>
      <p:sp>
        <p:nvSpPr>
          <p:cNvPr id="5" name="B"/>
          <p:cNvSpPr txBox="1"/>
          <p:nvPr/>
        </p:nvSpPr>
        <p:spPr>
          <a:xfrm>
            <a:off x="640080" y="3657600"/>
            <a:ext cx="1092708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zh-CN" sz="1750" b="0" dirty="0" smtClean="0">
                <a:solidFill>
                  <a:srgbClr val="0F172A"/>
                </a:solidFill>
              </a:rPr>
              <a:t>3. 当前阶段重点</a:t>
            </a:r>
          </a:p>
          <a:p>
            <a:r>
              <a:rPr lang="zh-CN" sz="1750" b="0" dirty="0" smtClean="0">
                <a:solidFill>
                  <a:srgbClr val="0F172A"/>
                </a:solidFill>
              </a:rPr>
              <a:t>• 在开源 BOTS 数据集上反复测试查询效果与任务拆解质量</a:t>
            </a:r>
          </a:p>
          <a:p>
            <a:r>
              <a:rPr lang="zh-CN" sz="1750" b="0" dirty="0" smtClean="0">
                <a:solidFill>
                  <a:srgbClr val="0F172A"/>
                </a:solidFill>
              </a:rPr>
              <a:t>• 针对 TTT 构建、工具路由、Splunk 查询意图翻译持续调优</a:t>
            </a:r>
          </a:p>
          <a:p>
            <a:r>
              <a:rPr lang="zh-CN" sz="1750" b="0" dirty="0" smtClean="0">
                <a:solidFill>
                  <a:srgbClr val="0F172A"/>
                </a:solidFill>
              </a:rPr>
              <a:t>• 让前端展示的状态、消息流、执行记录与真实 SQLite 状态保持一致</a:t>
            </a:r>
          </a:p>
        </p:txBody>
      </p:sp>
      <p:cxnSp>
        <p:nvCxnSpPr>
          <p:cNvPr id="6" name="divider"/>
          <p:cNvCxnSpPr/>
          <p:nvPr/>
        </p:nvCxnSpPr>
        <p:spPr>
          <a:xfrm>
            <a:off x="5897880" y="1280160"/>
            <a:ext cx="1" cy="1828800"/>
          </a:xfrm>
          <a:prstGeom prst="line">
            <a:avLst/>
          </a:prstGeom>
          <a:ln w="25400">
            <a:solidFill>
              <a:srgbClr val="94A3B8"/>
            </a:solidFill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600" b="1" dirty="0" smtClean="0">
                <a:solidFill>
                  <a:srgbClr val="0F172A"/>
                </a:solidFill>
              </a:rPr>
              <a:t>2. BOTS 数据集介绍</a:t>
            </a:r>
          </a:p>
        </p:txBody>
      </p:sp>
      <p:sp>
        <p:nvSpPr>
          <p:cNvPr id="3" name="Intro"/>
          <p:cNvSpPr txBox="1"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txBody>
          <a:bodyPr wrap="square" lIns="91440" tIns="45720" rIns="91440" bIns="45720"/>
          <a:lstStyle/>
          <a:p>
            <a:r>
              <a:rPr lang="zh-CN" sz="1900" b="0" dirty="0" smtClean="0">
                <a:solidFill>
                  <a:srgbClr val="0F172A"/>
                </a:solidFill>
              </a:rPr>
              <a:t>BOTS（Boss of the SOC）是 Splunk 提供的开源安全分析数据集，</a:t>
            </a:r>
          </a:p>
          <a:p>
            <a:r>
              <a:rPr lang="zh-CN" sz="1900" b="0" dirty="0" smtClean="0">
                <a:solidFill>
                  <a:srgbClr val="0F172A"/>
                </a:solidFill>
              </a:rPr>
              <a:t>适合用来验证攻击溯源、日志关联分析与查询策略。</a:t>
            </a:r>
          </a:p>
        </p:txBody>
      </p:sp>
      <p:sp>
        <p:nvSpPr>
          <p:cNvPr id="4" name="Detail"/>
          <p:cNvSpPr txBox="1"/>
          <p:nvPr/>
        </p:nvSpPr>
        <p:spPr>
          <a:xfrm>
            <a:off x="640080" y="2240280"/>
            <a:ext cx="5303520" cy="237744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r>
              <a:rPr lang="zh-CN" sz="1700" b="0" dirty="0" smtClean="0">
                <a:solidFill>
                  <a:srgbClr val="0F172A"/>
                </a:solidFill>
              </a:rPr>
              <a:t>当前项目中的使用方式</a:t>
            </a:r>
          </a:p>
          <a:p>
            <a:r>
              <a:rPr lang="zh-CN" sz="1700" b="0" dirty="0" smtClean="0">
                <a:solidFill>
                  <a:srgbClr val="0F172A"/>
                </a:solidFill>
              </a:rPr>
              <a:t>• 默认接入 botsv1，也预留了 botsv2 / botsv3 配置</a:t>
            </a:r>
          </a:p>
          <a:p>
            <a:r>
              <a:rPr lang="zh-CN" sz="1700" b="0" dirty="0" smtClean="0">
                <a:solidFill>
                  <a:srgbClr val="0F172A"/>
                </a:solidFill>
              </a:rPr>
              <a:t>• 通过 Splunk REST API 执行真实查询，而不是前端假数据</a:t>
            </a:r>
          </a:p>
          <a:p>
            <a:r>
              <a:rPr lang="zh-CN" sz="1700" b="0" dirty="0" smtClean="0">
                <a:solidFill>
                  <a:srgbClr val="0F172A"/>
                </a:solidFill>
              </a:rPr>
              <a:t>• 便于验证多轮调查流程在不同日志类型上的泛化能力</a:t>
            </a:r>
          </a:p>
        </p:txBody>
      </p:sp>
      <p:sp>
        <p:nvSpPr>
          <p:cNvPr id="5" name="Logs"/>
          <p:cNvSpPr txBox="1"/>
          <p:nvPr/>
        </p:nvSpPr>
        <p:spPr>
          <a:xfrm>
            <a:off x="6309360" y="2240280"/>
            <a:ext cx="2514600" cy="237744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wrap="square" lIns="91440" tIns="45720" rIns="91440" bIns="45720"/>
          <a:lstStyle/>
          <a:p>
            <a:r>
              <a:rPr lang="zh-CN" sz="1650" b="0" dirty="0" smtClean="0">
                <a:solidFill>
                  <a:srgbClr val="0F172A"/>
                </a:solidFill>
              </a:rPr>
              <a:t>botsv1 典型日志类型</a:t>
            </a:r>
          </a:p>
          <a:p>
            <a:r>
              <a:rPr lang="zh-CN" sz="1650" b="0" dirty="0" smtClean="0">
                <a:solidFill>
                  <a:srgbClr val="0F172A"/>
                </a:solidFill>
              </a:rPr>
              <a:t>• Windows / Sysmon</a:t>
            </a:r>
          </a:p>
          <a:p>
            <a:r>
              <a:rPr lang="zh-CN" sz="1650" b="0" dirty="0" smtClean="0">
                <a:solidFill>
                  <a:srgbClr val="0F172A"/>
                </a:solidFill>
              </a:rPr>
              <a:t>• IIS / Stream / DNS / HTTP</a:t>
            </a:r>
          </a:p>
          <a:p>
            <a:r>
              <a:rPr lang="zh-CN" sz="1650" b="0" dirty="0" smtClean="0">
                <a:solidFill>
                  <a:srgbClr val="0F172A"/>
                </a:solidFill>
              </a:rPr>
              <a:t>• Suricata / FortiGate</a:t>
            </a:r>
          </a:p>
          <a:p>
            <a:r>
              <a:rPr lang="zh-CN" sz="1650" b="0" dirty="0" smtClean="0">
                <a:solidFill>
                  <a:srgbClr val="0F172A"/>
                </a:solidFill>
              </a:rPr>
              <a:t>• 注册表与主机行为日志</a:t>
            </a:r>
          </a:p>
        </p:txBody>
      </p:sp>
      <p:sp>
        <p:nvSpPr>
          <p:cNvPr id="6" name="Value"/>
          <p:cNvSpPr txBox="1"/>
          <p:nvPr/>
        </p:nvSpPr>
        <p:spPr>
          <a:xfrm>
            <a:off x="9098280" y="2240280"/>
            <a:ext cx="2514600" cy="2377440"/>
          </a:xfrm>
          <a:prstGeom prst="rect">
            <a:avLst/>
          </a:prstGeom>
          <a:solidFill>
            <a:srgbClr val="FDF2F8"/>
          </a:solidFill>
          <a:ln w="12700">
            <a:solidFill>
              <a:srgbClr val="F9A8D4"/>
            </a:solidFill>
          </a:ln>
        </p:spPr>
        <p:txBody>
          <a:bodyPr wrap="square" lIns="91440" tIns="45720" rIns="91440" bIns="45720"/>
          <a:lstStyle/>
          <a:p>
            <a:r>
              <a:rPr lang="zh-CN" sz="1650" b="0" dirty="0" smtClean="0">
                <a:solidFill>
                  <a:srgbClr val="0F172A"/>
                </a:solidFill>
              </a:rPr>
              <a:t>为什么适合当前阶段</a:t>
            </a:r>
          </a:p>
          <a:p>
            <a:r>
              <a:rPr lang="zh-CN" sz="1650" b="0" dirty="0" smtClean="0">
                <a:solidFill>
                  <a:srgbClr val="0F172A"/>
                </a:solidFill>
              </a:rPr>
              <a:t>• 数据公开，便于复现实验</a:t>
            </a:r>
          </a:p>
          <a:p>
            <a:r>
              <a:rPr lang="zh-CN" sz="1650" b="0" dirty="0" smtClean="0">
                <a:solidFill>
                  <a:srgbClr val="0F172A"/>
                </a:solidFill>
              </a:rPr>
              <a:t>• 既有网络流量，也有主机日志</a:t>
            </a:r>
          </a:p>
          <a:p>
            <a:r>
              <a:rPr lang="zh-CN" sz="1650" b="0" dirty="0" smtClean="0">
                <a:solidFill>
                  <a:srgbClr val="0F172A"/>
                </a:solidFill>
              </a:rPr>
              <a:t>• 能支撑从告警到证据链的完整验证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600" b="1" dirty="0" smtClean="0">
                <a:solidFill>
                  <a:srgbClr val="0F172A"/>
                </a:solidFill>
              </a:rPr>
              <a:t>3. 前后端技术栈</a:t>
            </a:r>
          </a:p>
        </p:txBody>
      </p:sp>
      <p:sp>
        <p:nvSpPr>
          <p:cNvPr id="3" name="Backend"/>
          <p:cNvSpPr txBox="1"/>
          <p:nvPr/>
        </p:nvSpPr>
        <p:spPr>
          <a:xfrm>
            <a:off x="640080" y="1234440"/>
            <a:ext cx="3657600" cy="3200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750" b="0" dirty="0" smtClean="0">
                <a:solidFill>
                  <a:srgbClr val="FFFFFF"/>
                </a:solidFill>
              </a:rPr>
              <a:t>后端</a:t>
            </a:r>
          </a:p>
          <a:p>
            <a:r>
              <a:rPr lang="zh-CN" sz="1750" b="0" dirty="0" smtClean="0">
                <a:solidFill>
                  <a:srgbClr val="FFFFFF"/>
                </a:solidFill>
              </a:rPr>
              <a:t>• Python 3.13</a:t>
            </a:r>
          </a:p>
          <a:p>
            <a:r>
              <a:rPr lang="zh-CN" sz="1750" b="0" dirty="0" smtClean="0">
                <a:solidFill>
                  <a:srgbClr val="FFFFFF"/>
                </a:solidFill>
              </a:rPr>
              <a:t>• Flask + Flask-SocketIO</a:t>
            </a:r>
          </a:p>
          <a:p>
            <a:r>
              <a:rPr lang="zh-CN" sz="1750" b="0" dirty="0" smtClean="0">
                <a:solidFill>
                  <a:srgbClr val="FFFFFF"/>
                </a:solidFill>
              </a:rPr>
              <a:t>• SQLite 作为共享状态中心</a:t>
            </a:r>
          </a:p>
          <a:p>
            <a:r>
              <a:rPr lang="zh-CN" sz="1750" b="0" dirty="0" smtClean="0">
                <a:solidFill>
                  <a:srgbClr val="FFFFFF"/>
                </a:solidFill>
              </a:rPr>
              <a:t>• OpenAI 兼容 LLM 接口封装</a:t>
            </a:r>
          </a:p>
          <a:p>
            <a:r>
              <a:rPr lang="zh-CN" sz="1750" b="0" dirty="0" smtClean="0">
                <a:solidFill>
                  <a:srgbClr val="FFFFFF"/>
                </a:solidFill>
              </a:rPr>
              <a:t>• Splunk / VirusTotal / IPInfo 工具接入</a:t>
            </a:r>
          </a:p>
        </p:txBody>
      </p:sp>
      <p:sp>
        <p:nvSpPr>
          <p:cNvPr id="4" name="Frontend"/>
          <p:cNvSpPr txBox="1"/>
          <p:nvPr/>
        </p:nvSpPr>
        <p:spPr>
          <a:xfrm>
            <a:off x="4526280" y="1234440"/>
            <a:ext cx="3657600" cy="3200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750" b="0" dirty="0" smtClean="0">
                <a:solidFill>
                  <a:srgbClr val="FFFFFF"/>
                </a:solidFill>
              </a:rPr>
              <a:t>前端</a:t>
            </a:r>
          </a:p>
          <a:p>
            <a:r>
              <a:rPr lang="zh-CN" sz="1750" b="0" dirty="0" smtClean="0">
                <a:solidFill>
                  <a:srgbClr val="FFFFFF"/>
                </a:solidFill>
              </a:rPr>
              <a:t>• Jinja2 模板页面</a:t>
            </a:r>
          </a:p>
          <a:p>
            <a:r>
              <a:rPr lang="zh-CN" sz="1750" b="0" dirty="0" smtClean="0">
                <a:solidFill>
                  <a:srgbClr val="FFFFFF"/>
                </a:solidFill>
              </a:rPr>
              <a:t>• Bootstrap 5</a:t>
            </a:r>
          </a:p>
          <a:p>
            <a:r>
              <a:rPr lang="zh-CN" sz="1750" b="0" dirty="0" smtClean="0">
                <a:solidFill>
                  <a:srgbClr val="FFFFFF"/>
                </a:solidFill>
              </a:rPr>
              <a:t>• 原生 JavaScript</a:t>
            </a:r>
          </a:p>
          <a:p>
            <a:r>
              <a:rPr lang="zh-CN" sz="1750" b="0" dirty="0" smtClean="0">
                <a:solidFill>
                  <a:srgbClr val="FFFFFF"/>
                </a:solidFill>
              </a:rPr>
              <a:t>• Socket.IO 实时消息推送</a:t>
            </a:r>
          </a:p>
          <a:p>
            <a:r>
              <a:rPr lang="zh-CN" sz="1750" b="0" dirty="0" smtClean="0">
                <a:solidFill>
                  <a:srgbClr val="FFFFFF"/>
                </a:solidFill>
              </a:rPr>
              <a:t>• 首页 + War Room 双页面结构</a:t>
            </a:r>
          </a:p>
        </p:txBody>
      </p:sp>
      <p:sp>
        <p:nvSpPr>
          <p:cNvPr id="5" name="Arch"/>
          <p:cNvSpPr txBox="1"/>
          <p:nvPr/>
        </p:nvSpPr>
        <p:spPr>
          <a:xfrm>
            <a:off x="8412480" y="1234440"/>
            <a:ext cx="315468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txBody>
          <a:bodyPr wrap="square" lIns="91440" tIns="45720" rIns="91440" bIns="45720"/>
          <a:lstStyle/>
          <a:p>
            <a:r>
              <a:rPr lang="zh-CN" sz="1700" b="1" dirty="0" smtClean="0">
                <a:solidFill>
                  <a:srgbClr val="0F172A"/>
                </a:solidFill>
              </a:rPr>
              <a:t>运行结构</a:t>
            </a:r>
          </a:p>
          <a:p>
            <a:r>
              <a:rPr lang="zh-CN" sz="1700" b="1" dirty="0" smtClean="0">
                <a:solidFill>
                  <a:srgbClr val="0F172A"/>
                </a:solidFill>
              </a:rPr>
              <a:t>Web 层</a:t>
            </a:r>
          </a:p>
          <a:p>
            <a:r>
              <a:rPr lang="zh-CN" sz="1700" b="1" dirty="0" smtClean="0">
                <a:solidFill>
                  <a:srgbClr val="0F172A"/>
                </a:solidFill>
              </a:rPr>
              <a:t>↓</a:t>
            </a:r>
          </a:p>
          <a:p>
            <a:r>
              <a:rPr lang="zh-CN" sz="1700" b="1" dirty="0" smtClean="0">
                <a:solidFill>
                  <a:srgbClr val="0F172A"/>
                </a:solidFill>
              </a:rPr>
              <a:t>Planner / Executor / Reviewer</a:t>
            </a:r>
          </a:p>
          <a:p>
            <a:r>
              <a:rPr lang="zh-CN" sz="1700" b="1" dirty="0" smtClean="0">
                <a:solidFill>
                  <a:srgbClr val="0F172A"/>
                </a:solidFill>
              </a:rPr>
              <a:t>↓</a:t>
            </a:r>
          </a:p>
          <a:p>
            <a:r>
              <a:rPr lang="zh-CN" sz="1700" b="1" dirty="0" smtClean="0">
                <a:solidFill>
                  <a:srgbClr val="0F172A"/>
                </a:solidFill>
              </a:rPr>
              <a:t>SQLite + TTT + Execution + Review</a:t>
            </a:r>
          </a:p>
        </p:txBody>
      </p:sp>
      <p:sp>
        <p:nvSpPr>
          <p:cNvPr id="6" name="Bottom"/>
          <p:cNvSpPr txBox="1"/>
          <p:nvPr/>
        </p:nvSpPr>
        <p:spPr>
          <a:xfrm>
            <a:off x="640080" y="4754880"/>
            <a:ext cx="1092708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zh-CN" sz="1750" b="0" dirty="0" smtClean="0">
                <a:solidFill>
                  <a:srgbClr val="334155"/>
                </a:solidFill>
              </a:rPr>
              <a:t>特点：当前系统已经不是静态演示页面，而是前后端联动、消费真实状态数据的可运行原型。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2600" b="1" dirty="0" smtClean="0">
                <a:solidFill>
                  <a:srgbClr val="0F172A"/>
                </a:solidFill>
              </a:rPr>
              <a:t>4. 界面展示</a:t>
            </a:r>
          </a:p>
        </p:txBody>
      </p:sp>
      <p:sp>
        <p:nvSpPr>
          <p:cNvPr id="3" name="HomeFrame"/>
          <p:cNvSpPr txBox="1"/>
          <p:nvPr/>
        </p:nvSpPr>
        <p:spPr>
          <a:xfrm>
            <a:off x="731520" y="1325880"/>
            <a:ext cx="53035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lIns="91440" tIns="45720" rIns="91440" bIns="45720"/>
          <a:lstStyle/>
          <a:p>
            <a:r>
              <a:rPr lang="zh-CN" sz="2400" b="0" dirty="0" smtClean="0">
                <a:solidFill>
                  <a:srgbClr val="1F2937"/>
                </a:solidFill>
              </a:rPr>
              <a:t> </a:t>
            </a:r>
          </a:p>
        </p:txBody>
      </p:sp>
      <p:sp>
        <p:nvSpPr>
          <p:cNvPr id="4" name="HomeNav"/>
          <p:cNvSpPr txBox="1"/>
          <p:nvPr/>
        </p:nvSpPr>
        <p:spPr>
          <a:xfrm>
            <a:off x="914400" y="1554480"/>
            <a:ext cx="493776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500" b="1" dirty="0" smtClean="0">
                <a:solidFill>
                  <a:srgbClr val="FFFFFF"/>
                </a:solidFill>
              </a:rPr>
              <a:t>SOCAgent Home</a:t>
            </a:r>
          </a:p>
        </p:txBody>
      </p:sp>
      <p:sp>
        <p:nvSpPr>
          <p:cNvPr id="5" name="HomeLeft"/>
          <p:cNvSpPr txBox="1"/>
          <p:nvPr/>
        </p:nvSpPr>
        <p:spPr>
          <a:xfrm>
            <a:off x="960120" y="2148840"/>
            <a:ext cx="1828800" cy="25603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r>
              <a:rPr lang="zh-CN" sz="1800" b="1" dirty="0" smtClean="0">
                <a:solidFill>
                  <a:srgbClr val="0F172A"/>
                </a:solidFill>
              </a:rPr>
              <a:t>创建事件表单</a:t>
            </a:r>
          </a:p>
        </p:txBody>
      </p:sp>
      <p:sp>
        <p:nvSpPr>
          <p:cNvPr id="6" name="HomeRight"/>
          <p:cNvSpPr txBox="1"/>
          <p:nvPr/>
        </p:nvSpPr>
        <p:spPr>
          <a:xfrm>
            <a:off x="3017520" y="2148840"/>
            <a:ext cx="2651760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r>
              <a:rPr lang="zh-CN" sz="1600" b="0" dirty="0" smtClean="0">
                <a:solidFill>
                  <a:srgbClr val="0F172A"/>
                </a:solidFill>
              </a:rPr>
              <a:t>事件列表</a:t>
            </a:r>
          </a:p>
          <a:p>
            <a:r>
              <a:rPr lang="zh-CN" sz="1600" b="0" dirty="0" smtClean="0">
                <a:solidFill>
                  <a:srgbClr val="0F172A"/>
                </a:solidFill>
              </a:rPr>
              <a:t> </a:t>
            </a:r>
          </a:p>
          <a:p>
            <a:r>
              <a:rPr lang="zh-CN" sz="1600" b="0" dirty="0" smtClean="0">
                <a:solidFill>
                  <a:srgbClr val="0F172A"/>
                </a:solidFill>
              </a:rPr>
              <a:t>按状态与时间查看</a:t>
            </a:r>
          </a:p>
          <a:p>
            <a:r>
              <a:rPr lang="zh-CN" sz="1600" b="0" dirty="0" smtClean="0">
                <a:solidFill>
                  <a:srgbClr val="0F172A"/>
                </a:solidFill>
              </a:rPr>
              <a:t>已创建的调查任务</a:t>
            </a:r>
          </a:p>
        </p:txBody>
      </p:sp>
      <p:sp>
        <p:nvSpPr>
          <p:cNvPr id="7" name="HomeNote"/>
          <p:cNvSpPr txBox="1"/>
          <p:nvPr/>
        </p:nvSpPr>
        <p:spPr>
          <a:xfrm>
            <a:off x="868680" y="5074920"/>
            <a:ext cx="49834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450" b="0" dirty="0" smtClean="0">
                <a:solidFill>
                  <a:srgbClr val="334155"/>
                </a:solidFill>
              </a:rPr>
              <a:t>首页</a:t>
            </a:r>
          </a:p>
          <a:p>
            <a:r>
              <a:rPr lang="zh-CN" sz="1450" b="0" dirty="0" smtClean="0">
                <a:solidFill>
                  <a:srgbClr val="334155"/>
                </a:solidFill>
              </a:rPr>
              <a:t>• 创建安全事件</a:t>
            </a:r>
          </a:p>
          <a:p>
            <a:r>
              <a:rPr lang="zh-CN" sz="1450" b="0" dirty="0" smtClean="0">
                <a:solidFill>
                  <a:srgbClr val="334155"/>
                </a:solidFill>
              </a:rPr>
              <a:t>• 查看事件列表</a:t>
            </a:r>
          </a:p>
          <a:p>
            <a:r>
              <a:rPr lang="zh-CN" sz="1450" b="0" dirty="0" smtClean="0">
                <a:solidFill>
                  <a:srgbClr val="334155"/>
                </a:solidFill>
              </a:rPr>
              <a:t>• 进入单事件 war room</a:t>
            </a:r>
          </a:p>
        </p:txBody>
      </p:sp>
      <p:sp>
        <p:nvSpPr>
          <p:cNvPr id="8" name="WarFrame"/>
          <p:cNvSpPr txBox="1"/>
          <p:nvPr/>
        </p:nvSpPr>
        <p:spPr>
          <a:xfrm>
            <a:off x="6217920" y="1325880"/>
            <a:ext cx="5257800" cy="438912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txBody>
          <a:bodyPr wrap="square" lIns="91440" tIns="45720" rIns="91440" bIns="45720"/>
          <a:lstStyle/>
          <a:p>
            <a:r>
              <a:rPr lang="zh-CN" sz="2400" b="0" dirty="0" smtClean="0">
                <a:solidFill>
                  <a:srgbClr val="1F2937"/>
                </a:solidFill>
              </a:rPr>
              <a:t> </a:t>
            </a:r>
          </a:p>
        </p:txBody>
      </p:sp>
      <p:sp>
        <p:nvSpPr>
          <p:cNvPr id="9" name="WarHeader"/>
          <p:cNvSpPr txBox="1"/>
          <p:nvPr/>
        </p:nvSpPr>
        <p:spPr>
          <a:xfrm>
            <a:off x="6400800" y="1554480"/>
            <a:ext cx="4892040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500" b="1" dirty="0" smtClean="0">
                <a:solidFill>
                  <a:srgbClr val="FFFFFF"/>
                </a:solidFill>
              </a:rPr>
              <a:t>SOCAgent War Room</a:t>
            </a:r>
          </a:p>
        </p:txBody>
      </p:sp>
      <p:sp>
        <p:nvSpPr>
          <p:cNvPr id="10" name="WarMain"/>
          <p:cNvSpPr txBox="1"/>
          <p:nvPr/>
        </p:nvSpPr>
        <p:spPr>
          <a:xfrm>
            <a:off x="6446520" y="2148840"/>
            <a:ext cx="3246120" cy="26517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91440" tIns="45720" rIns="91440" bIns="45720"/>
          <a:lstStyle/>
          <a:p>
            <a:r>
              <a:rPr lang="zh-CN" sz="1600" b="0" dirty="0" smtClean="0">
                <a:solidFill>
                  <a:srgbClr val="E2E8F0"/>
                </a:solidFill>
              </a:rPr>
              <a:t>消息流</a:t>
            </a:r>
          </a:p>
          <a:p>
            <a:r>
              <a:rPr lang="zh-CN" sz="1600" b="0" dirty="0" smtClean="0">
                <a:solidFill>
                  <a:srgbClr val="E2E8F0"/>
                </a:solidFill>
              </a:rPr>
              <a:t> </a:t>
            </a:r>
          </a:p>
          <a:p>
            <a:r>
              <a:rPr lang="zh-CN" sz="1600" b="0" dirty="0" smtClean="0">
                <a:solidFill>
                  <a:srgbClr val="E2E8F0"/>
                </a:solidFill>
              </a:rPr>
              <a:t>Planner / Executor /</a:t>
            </a:r>
          </a:p>
          <a:p>
            <a:r>
              <a:rPr lang="zh-CN" sz="1600" b="0" dirty="0" smtClean="0">
                <a:solidFill>
                  <a:srgbClr val="E2E8F0"/>
                </a:solidFill>
              </a:rPr>
              <a:t>Reviewer 的实时协作内容</a:t>
            </a:r>
          </a:p>
        </p:txBody>
      </p:sp>
      <p:sp>
        <p:nvSpPr>
          <p:cNvPr id="11" name="WarSide"/>
          <p:cNvSpPr txBox="1"/>
          <p:nvPr/>
        </p:nvSpPr>
        <p:spPr>
          <a:xfrm>
            <a:off x="9875520" y="2148840"/>
            <a:ext cx="164592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91440" tIns="45720" rIns="91440" bIns="45720"/>
          <a:lstStyle/>
          <a:p>
            <a:r>
              <a:rPr lang="zh-CN" sz="1500" b="0" dirty="0" smtClean="0">
                <a:solidFill>
                  <a:srgbClr val="E2E8F0"/>
                </a:solidFill>
              </a:rPr>
              <a:t>右侧状态栏</a:t>
            </a:r>
          </a:p>
          <a:p>
            <a:r>
              <a:rPr lang="zh-CN" sz="1500" b="0" dirty="0" smtClean="0">
                <a:solidFill>
                  <a:srgbClr val="E2E8F0"/>
                </a:solidFill>
              </a:rPr>
              <a:t> </a:t>
            </a:r>
          </a:p>
          <a:p>
            <a:r>
              <a:rPr lang="zh-CN" sz="1500" b="0" dirty="0" smtClean="0">
                <a:solidFill>
                  <a:srgbClr val="E2E8F0"/>
                </a:solidFill>
              </a:rPr>
              <a:t>轮次</a:t>
            </a:r>
          </a:p>
          <a:p>
            <a:r>
              <a:rPr lang="zh-CN" sz="1500" b="0" dirty="0" smtClean="0">
                <a:solidFill>
                  <a:srgbClr val="E2E8F0"/>
                </a:solidFill>
              </a:rPr>
              <a:t>节点数</a:t>
            </a:r>
          </a:p>
          <a:p>
            <a:r>
              <a:rPr lang="zh-CN" sz="1500" b="0" dirty="0" smtClean="0">
                <a:solidFill>
                  <a:srgbClr val="E2E8F0"/>
                </a:solidFill>
              </a:rPr>
              <a:t>执行数</a:t>
            </a:r>
          </a:p>
          <a:p>
            <a:r>
              <a:rPr lang="zh-CN" sz="1500" b="0" dirty="0" smtClean="0">
                <a:solidFill>
                  <a:srgbClr val="E2E8F0"/>
                </a:solidFill>
              </a:rPr>
              <a:t>角色状态</a:t>
            </a:r>
          </a:p>
        </p:txBody>
      </p:sp>
      <p:sp>
        <p:nvSpPr>
          <p:cNvPr id="12" name="WarNote"/>
          <p:cNvSpPr txBox="1"/>
          <p:nvPr/>
        </p:nvSpPr>
        <p:spPr>
          <a:xfrm>
            <a:off x="6355080" y="5074920"/>
            <a:ext cx="4983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zh-CN" sz="1450" b="0" dirty="0" smtClean="0">
                <a:solidFill>
                  <a:srgbClr val="334155"/>
                </a:solidFill>
              </a:rPr>
              <a:t>War Room</a:t>
            </a:r>
          </a:p>
          <a:p>
            <a:r>
              <a:rPr lang="zh-CN" sz="1450" b="0" dirty="0" smtClean="0">
                <a:solidFill>
                  <a:srgbClr val="334155"/>
                </a:solidFill>
              </a:rPr>
              <a:t>• 事件详情与状态</a:t>
            </a:r>
          </a:p>
          <a:p>
            <a:r>
              <a:rPr lang="zh-CN" sz="1450" b="0" dirty="0" smtClean="0">
                <a:solidFill>
                  <a:srgbClr val="334155"/>
                </a:solidFill>
              </a:rPr>
              <a:t>• 三角色消息流</a:t>
            </a:r>
          </a:p>
          <a:p>
            <a:r>
              <a:rPr lang="zh-CN" sz="1450" b="0" dirty="0" smtClean="0">
                <a:solidFill>
                  <a:srgbClr val="334155"/>
                </a:solidFill>
              </a:rPr>
              <a:t>• TTT 层级结构</a:t>
            </a:r>
          </a:p>
          <a:p>
            <a:r>
              <a:rPr lang="zh-CN" sz="1450" b="0" dirty="0" smtClean="0">
                <a:solidFill>
                  <a:srgbClr val="334155"/>
                </a:solidFill>
              </a:rPr>
              <a:t>• 执行记录与轮次复盘</a:t>
            </a:r>
          </a:p>
          <a:p>
            <a:r>
              <a:rPr lang="zh-CN" sz="1450" b="0" dirty="0" smtClean="0">
                <a:solidFill>
                  <a:srgbClr val="334155"/>
                </a:solidFill>
              </a:rPr>
              <a:t>• Socket.IO 实时更新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0F766E"/>
      </a:accent2>
      <a:accent3>
        <a:srgbClr val="DC2626"/>
      </a:accent3>
      <a:accent4>
        <a:srgbClr val="F59E0B"/>
      </a:accent4>
      <a:accent5>
        <a:srgbClr val="7C3AED"/>
      </a:accent5>
      <a:accent6>
        <a:srgbClr val="0EA5E9"/>
      </a:accent6>
      <a:hlink>
        <a:srgbClr val="2563EB"/>
      </a:hlink>
      <a:folHlink>
        <a:srgbClr val="7C3AED"/>
      </a:folHlink>
    </a:clrScheme>
    <a:fontScheme name="Office">
      <a:majorFont>
        <a:latin typeface="Aptos Display"/>
        <a:ea typeface="Microsoft YaHei"/>
        <a:cs typeface="Arial"/>
      </a:majorFont>
      <a:minorFont>
        <a:latin typeface="Aptos"/>
        <a:ea typeface="Microsoft YaHei"/>
        <a:cs typeface="Arial"/>
      </a:minorFont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5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5</vt:i4>
      </vt:variant>
    </vt:vector>
  </HeadingPairs>
  <TitlesOfParts>
    <vt:vector size="5" baseType="lpstr"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SOCAgent Progress Report</dc:title>
  <dc:creator>Codex</dc:creator>
  <cp:lastModifiedBy>Codex</cp:lastModifiedBy>
  <dcterms:created xsi:type="dcterms:W3CDTF">2026-06-07T21:01:13Z</dcterms:created>
  <dcterms:modified xsi:type="dcterms:W3CDTF">2026-06-07T21:01:13Z</dcterms:modified>
</cp:coreProperties>
</file>