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952" cy="6858000"/>
  <p:notesSz cx="6858000" cy="9144000"/>
  <p:defaultTextStyle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"/>
</file>

<file path=ppt/viewProps.xml><?xml version="1.0" encoding="utf-8"?>
<p:viewPr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2600" b="1" dirty="0" smtClean="0">
                <a:solidFill>
                  <a:srgbClr val="0F172A"/>
                </a:solidFill>
              </a:rPr>
              <a:t>Advisor Report</a:t>
            </a:r>
          </a:p>
        </p:txBody>
      </p:sp>
      <p:sp>
        <p:nvSpPr>
          <p:cNvPr id="3" name="Hero"/>
          <p:cNvSpPr txBox="1"/>
          <p:nvPr/>
        </p:nvSpPr>
        <p:spPr>
          <a:xfrm>
            <a:off x="731520" y="1280160"/>
            <a:ext cx="548640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000" b="1" dirty="0" smtClean="0">
                <a:solidFill>
                  <a:srgbClr val="0F172A"/>
                </a:solidFill>
              </a:rPr>
              <a:t>SOCAgent</a:t>
            </a:r>
          </a:p>
          <a:p>
            <a:r>
              <a:rPr lang="en-US" sz="3000" b="1" dirty="0" smtClean="0">
                <a:solidFill>
                  <a:srgbClr val="0F172A"/>
                </a:solidFill>
              </a:rPr>
              <a:t>Progress Report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49808" y="3337560"/>
            <a:ext cx="5303520" cy="11887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700" b="0" dirty="0" smtClean="0">
                <a:solidFill>
                  <a:srgbClr val="475569"/>
                </a:solidFill>
              </a:rPr>
              <a:t>A three-role multi-agent prototype for security alert traceback</a:t>
            </a:r>
          </a:p>
          <a:p>
            <a:r>
              <a:rPr lang="en-US" sz="1700" b="0" dirty="0" smtClean="0">
                <a:solidFill>
                  <a:srgbClr val="475569"/>
                </a:solidFill>
              </a:rPr>
              <a:t>Current focus: run the workflow end to end and keep validating and tuning on open datasets</a:t>
            </a:r>
          </a:p>
        </p:txBody>
      </p:sp>
      <p:sp>
        <p:nvSpPr>
          <p:cNvPr id="5" name="Card1"/>
          <p:cNvSpPr txBox="1"/>
          <p:nvPr/>
        </p:nvSpPr>
        <p:spPr>
          <a:xfrm>
            <a:off x="6492240" y="1234440"/>
            <a:ext cx="18288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700" b="1" dirty="0" smtClean="0">
                <a:solidFill>
                  <a:srgbClr val="FFFFFF"/>
                </a:solidFill>
              </a:rPr>
              <a:t>Planner</a:t>
            </a:r>
          </a:p>
          <a:p>
            <a:r>
              <a:rPr lang="en-US" sz="1700" b="1" dirty="0" smtClean="0">
                <a:solidFill>
                  <a:srgbClr val="FFFFFF"/>
                </a:solidFill>
              </a:rPr>
              <a:t>Task Planning</a:t>
            </a:r>
          </a:p>
        </p:txBody>
      </p:sp>
      <p:sp>
        <p:nvSpPr>
          <p:cNvPr id="6" name="Card2"/>
          <p:cNvSpPr txBox="1"/>
          <p:nvPr/>
        </p:nvSpPr>
        <p:spPr>
          <a:xfrm>
            <a:off x="8503920" y="1234440"/>
            <a:ext cx="1828800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700" b="1" dirty="0" smtClean="0">
                <a:solidFill>
                  <a:srgbClr val="FFFFFF"/>
                </a:solidFill>
              </a:rPr>
              <a:t>Executor</a:t>
            </a:r>
          </a:p>
          <a:p>
            <a:r>
              <a:rPr lang="en-US" sz="1700" b="1" dirty="0" smtClean="0">
                <a:solidFill>
                  <a:srgbClr val="FFFFFF"/>
                </a:solidFill>
              </a:rPr>
              <a:t>Tool Execution</a:t>
            </a:r>
          </a:p>
        </p:txBody>
      </p:sp>
      <p:sp>
        <p:nvSpPr>
          <p:cNvPr id="7" name="Card3"/>
          <p:cNvSpPr txBox="1"/>
          <p:nvPr/>
        </p:nvSpPr>
        <p:spPr>
          <a:xfrm>
            <a:off x="10515600" y="1234440"/>
            <a:ext cx="100584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400" b="1" dirty="0" smtClean="0">
                <a:solidFill>
                  <a:srgbClr val="FFFFFF"/>
                </a:solidFill>
              </a:rPr>
              <a:t>Reviewer</a:t>
            </a:r>
          </a:p>
          <a:p>
            <a:r>
              <a:rPr lang="en-US" sz="1400" b="1" dirty="0" smtClean="0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8" name="Flow"/>
          <p:cNvSpPr txBox="1"/>
          <p:nvPr/>
        </p:nvSpPr>
        <p:spPr>
          <a:xfrm>
            <a:off x="6492240" y="2743200"/>
            <a:ext cx="5029200" cy="210312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r>
              <a:rPr lang="en-US" sz="1700" b="1" dirty="0" smtClean="0">
                <a:solidFill>
                  <a:srgbClr val="0F172A"/>
                </a:solidFill>
              </a:rPr>
              <a:t>Event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↓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TTT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↓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Execution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↓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RoundReview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↓</a:t>
            </a:r>
          </a:p>
          <a:p>
            <a:r>
              <a:rPr lang="en-US" sz="1700" b="1" dirty="0" smtClean="0">
                <a:solidFill>
                  <a:srgbClr val="0F172A"/>
                </a:solidFill>
              </a:rPr>
              <a:t>Next-round TTT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731520" y="60350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200" b="0" dirty="0" smtClean="0">
                <a:solidFill>
                  <a:srgbClr val="64748B"/>
                </a:solidFill>
              </a:rPr>
              <a:t>Generated: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2600" b="1" dirty="0" smtClean="0">
                <a:solidFill>
                  <a:srgbClr val="0F172A"/>
                </a:solidFill>
              </a:rPr>
              <a:t>1. Overall Progress</a:t>
            </a:r>
          </a:p>
        </p:txBody>
      </p:sp>
      <p:sp>
        <p:nvSpPr>
          <p:cNvPr id="3" name="L"/>
          <p:cNvSpPr txBox="1"/>
          <p:nvPr/>
        </p:nvSpPr>
        <p:spPr>
          <a:xfrm>
            <a:off x="640080" y="1143000"/>
            <a:ext cx="5303520" cy="214884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txBody>
          <a:bodyPr wrap="square" lIns="91440" tIns="45720" rIns="91440" bIns="45720"/>
          <a:lstStyle/>
          <a:p>
            <a:r>
              <a:rPr lang="en-US" sz="1700" b="0" dirty="0" smtClean="0">
                <a:solidFill>
                  <a:srgbClr val="0F172A"/>
                </a:solidFill>
              </a:rPr>
              <a:t>1. Multi-role closed-loop workflow is connected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Planner builds the TTT (Traceback Task Tree)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Executor claims and executes L3 leaf nodes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Reviewer produces RoundReview and drives replanning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Core chain: Event -&gt; TTT -&gt; Execution -&gt; RoundReview -&gt; TTT</a:t>
            </a:r>
          </a:p>
        </p:txBody>
      </p:sp>
      <p:sp>
        <p:nvSpPr>
          <p:cNvPr id="4" name="R"/>
          <p:cNvSpPr txBox="1"/>
          <p:nvPr/>
        </p:nvSpPr>
        <p:spPr>
          <a:xfrm>
            <a:off x="6263640" y="1143000"/>
            <a:ext cx="5303520" cy="214884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txBody>
          <a:bodyPr wrap="square" lIns="91440" tIns="45720" rIns="91440" bIns="45720"/>
          <a:lstStyle/>
          <a:p>
            <a:r>
              <a:rPr lang="en-US" sz="1700" b="0" dirty="0" smtClean="0">
                <a:solidFill>
                  <a:srgbClr val="0F172A"/>
                </a:solidFill>
              </a:rPr>
              <a:t>2. Current validation approach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Shared state through SQLite for multi-process collaboration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Create events from the Web home page and observe progress in the war room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Multi-round smoke tests are available for end-to-end validation</a:t>
            </a:r>
          </a:p>
        </p:txBody>
      </p:sp>
      <p:sp>
        <p:nvSpPr>
          <p:cNvPr id="5" name="B"/>
          <p:cNvSpPr txBox="1"/>
          <p:nvPr/>
        </p:nvSpPr>
        <p:spPr>
          <a:xfrm>
            <a:off x="640080" y="3657600"/>
            <a:ext cx="109270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r>
              <a:rPr lang="en-US" sz="1700" b="0" dirty="0" smtClean="0">
                <a:solidFill>
                  <a:srgbClr val="0F172A"/>
                </a:solidFill>
              </a:rPr>
              <a:t>3. Current focus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Repeatedly test query quality and task decomposition on the open BOTS dataset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Keep tuning TTT construction, tool routing, and Splunk intent translation</a:t>
            </a:r>
          </a:p>
          <a:p>
            <a:r>
              <a:rPr lang="en-US" sz="1700" b="0" dirty="0" smtClean="0">
                <a:solidFill>
                  <a:srgbClr val="0F172A"/>
                </a:solidFill>
              </a:rPr>
              <a:t>• Keep front-end status, message flow, and executions aligned with real SQLite state</a:t>
            </a:r>
          </a:p>
        </p:txBody>
      </p:sp>
      <p:cxnSp>
        <p:nvCxnSpPr>
          <p:cNvPr id="6" name="divider"/>
          <p:cNvCxnSpPr/>
          <p:nvPr/>
        </p:nvCxnSpPr>
        <p:spPr>
          <a:xfrm>
            <a:off x="5897880" y="1280160"/>
            <a:ext cx="1" cy="1828800"/>
          </a:xfrm>
          <a:prstGeom prst="line">
            <a:avLst/>
          </a:prstGeom>
          <a:ln w="25400">
            <a:solidFill>
              <a:srgbClr val="94A3B8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2600" b="1" dirty="0" smtClean="0">
                <a:solidFill>
                  <a:srgbClr val="0F172A"/>
                </a:solidFill>
              </a:rPr>
              <a:t>2. BOTS Dataset</a:t>
            </a:r>
          </a:p>
        </p:txBody>
      </p:sp>
      <p:sp>
        <p:nvSpPr>
          <p:cNvPr id="3" name="Intro"/>
          <p:cNvSpPr txBox="1"/>
          <p:nvPr/>
        </p:nvSpPr>
        <p:spPr>
          <a:xfrm>
            <a:off x="640080" y="1097280"/>
            <a:ext cx="10972800" cy="91440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91440" tIns="45720" rIns="91440" bIns="45720"/>
          <a:lstStyle/>
          <a:p>
            <a:r>
              <a:rPr lang="en-US" sz="1800" b="0" dirty="0" smtClean="0">
                <a:solidFill>
                  <a:srgbClr val="0F172A"/>
                </a:solidFill>
              </a:rPr>
              <a:t>BOTS (Boss of the SOC) is an open security-analysis dataset from Splunk,</a:t>
            </a:r>
          </a:p>
          <a:p>
            <a:r>
              <a:rPr lang="en-US" sz="1800" b="0" dirty="0" smtClean="0">
                <a:solidFill>
                  <a:srgbClr val="0F172A"/>
                </a:solidFill>
              </a:rPr>
              <a:t>well suited for attack traceback, log correlation analysis, and query-strategy validation.</a:t>
            </a:r>
          </a:p>
        </p:txBody>
      </p:sp>
      <p:sp>
        <p:nvSpPr>
          <p:cNvPr id="4" name="Detail"/>
          <p:cNvSpPr txBox="1"/>
          <p:nvPr/>
        </p:nvSpPr>
        <p:spPr>
          <a:xfrm>
            <a:off x="640080" y="2240280"/>
            <a:ext cx="5303520" cy="2377440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lIns="91440" tIns="45720" rIns="91440" bIns="45720"/>
          <a:lstStyle/>
          <a:p>
            <a:r>
              <a:rPr lang="en-US" sz="1650" b="0" dirty="0" smtClean="0">
                <a:solidFill>
                  <a:srgbClr val="0F172A"/>
                </a:solidFill>
              </a:rPr>
              <a:t>How we use it in this project</a:t>
            </a:r>
          </a:p>
          <a:p>
            <a:r>
              <a:rPr lang="en-US" sz="1650" b="0" dirty="0" smtClean="0">
                <a:solidFill>
                  <a:srgbClr val="0F172A"/>
                </a:solidFill>
              </a:rPr>
              <a:t>• botsv1 is the default dataset, with botsv2 / botsv3 reserved as well</a:t>
            </a:r>
          </a:p>
          <a:p>
            <a:r>
              <a:rPr lang="en-US" sz="1650" b="0" dirty="0" smtClean="0">
                <a:solidFill>
                  <a:srgbClr val="0F172A"/>
                </a:solidFill>
              </a:rPr>
              <a:t>• Queries run through the Splunk REST API rather than front-end mock data</a:t>
            </a:r>
          </a:p>
          <a:p>
            <a:r>
              <a:rPr lang="en-US" sz="1650" b="0" dirty="0" smtClean="0">
                <a:solidFill>
                  <a:srgbClr val="0F172A"/>
                </a:solidFill>
              </a:rPr>
              <a:t>• It helps validate whether the multi-round workflow generalizes across log types</a:t>
            </a:r>
          </a:p>
        </p:txBody>
      </p:sp>
      <p:sp>
        <p:nvSpPr>
          <p:cNvPr id="5" name="Logs"/>
          <p:cNvSpPr txBox="1"/>
          <p:nvPr/>
        </p:nvSpPr>
        <p:spPr>
          <a:xfrm>
            <a:off x="6309360" y="2240280"/>
            <a:ext cx="2514600" cy="2377440"/>
          </a:xfrm>
          <a:prstGeom prst="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91440" tIns="45720" rIns="91440" bIns="45720"/>
          <a:lstStyle/>
          <a:p>
            <a:r>
              <a:rPr lang="en-US" sz="1600" b="0" dirty="0" smtClean="0">
                <a:solidFill>
                  <a:srgbClr val="0F172A"/>
                </a:solidFill>
              </a:rPr>
              <a:t>Typical botsv1 log types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Windows / Sysmon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IIS / Stream / DNS / HTTP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Suricata / FortiGate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Registry and host-behavior logs</a:t>
            </a:r>
          </a:p>
        </p:txBody>
      </p:sp>
      <p:sp>
        <p:nvSpPr>
          <p:cNvPr id="6" name="Value"/>
          <p:cNvSpPr txBox="1"/>
          <p:nvPr/>
        </p:nvSpPr>
        <p:spPr>
          <a:xfrm>
            <a:off x="9098280" y="2240280"/>
            <a:ext cx="2514600" cy="2377440"/>
          </a:xfrm>
          <a:prstGeom prst="rect">
            <a:avLst/>
          </a:prstGeom>
          <a:solidFill>
            <a:srgbClr val="FDF2F8"/>
          </a:solidFill>
          <a:ln w="12700">
            <a:solidFill>
              <a:srgbClr val="F9A8D4"/>
            </a:solidFill>
          </a:ln>
        </p:spPr>
        <p:txBody>
          <a:bodyPr wrap="square" lIns="91440" tIns="45720" rIns="91440" bIns="45720"/>
          <a:lstStyle/>
          <a:p>
            <a:r>
              <a:rPr lang="en-US" sz="1600" b="0" dirty="0" smtClean="0">
                <a:solidFill>
                  <a:srgbClr val="0F172A"/>
                </a:solidFill>
              </a:rPr>
              <a:t>Why it fits the current stage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Public data makes experiments easy to reproduce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Includes both network traffic and host logs</a:t>
            </a:r>
          </a:p>
          <a:p>
            <a:r>
              <a:rPr lang="en-US" sz="1600" b="0" dirty="0" smtClean="0">
                <a:solidFill>
                  <a:srgbClr val="0F172A"/>
                </a:solidFill>
              </a:rPr>
              <a:t>• Supports full validation from alert to evidence chain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2600" b="1" dirty="0" smtClean="0">
                <a:solidFill>
                  <a:srgbClr val="0F172A"/>
                </a:solidFill>
              </a:rPr>
              <a:t>3. Frontend and Backend Stack</a:t>
            </a:r>
          </a:p>
        </p:txBody>
      </p:sp>
      <p:sp>
        <p:nvSpPr>
          <p:cNvPr id="3" name="Backend"/>
          <p:cNvSpPr txBox="1"/>
          <p:nvPr/>
        </p:nvSpPr>
        <p:spPr>
          <a:xfrm>
            <a:off x="640080" y="1234440"/>
            <a:ext cx="3657600" cy="3200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700" b="0" dirty="0" smtClean="0">
                <a:solidFill>
                  <a:srgbClr val="FFFFFF"/>
                </a:solidFill>
              </a:rPr>
              <a:t>Backend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Python 3.13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Flask + Flask-SocketIO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SQLite as the shared state hub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OpenAI-compatible LLM integration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Splunk / VirusTotal / IPInfo tool integration</a:t>
            </a:r>
          </a:p>
        </p:txBody>
      </p:sp>
      <p:sp>
        <p:nvSpPr>
          <p:cNvPr id="4" name="Frontend"/>
          <p:cNvSpPr txBox="1"/>
          <p:nvPr/>
        </p:nvSpPr>
        <p:spPr>
          <a:xfrm>
            <a:off x="4526280" y="1234440"/>
            <a:ext cx="3657600" cy="3200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700" b="0" dirty="0" smtClean="0">
                <a:solidFill>
                  <a:srgbClr val="FFFFFF"/>
                </a:solidFill>
              </a:rPr>
              <a:t>Frontend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Jinja2 template pages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Bootstrap 5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Vanilla JavaScript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Socket.IO real-time message updates</a:t>
            </a:r>
          </a:p>
          <a:p>
            <a:r>
              <a:rPr lang="en-US" sz="1700" b="0" dirty="0" smtClean="0">
                <a:solidFill>
                  <a:srgbClr val="FFFFFF"/>
                </a:solidFill>
              </a:rPr>
              <a:t>• Home page + War Room structure</a:t>
            </a:r>
          </a:p>
        </p:txBody>
      </p:sp>
      <p:sp>
        <p:nvSpPr>
          <p:cNvPr id="5" name="Arch"/>
          <p:cNvSpPr txBox="1"/>
          <p:nvPr/>
        </p:nvSpPr>
        <p:spPr>
          <a:xfrm>
            <a:off x="8412480" y="1234440"/>
            <a:ext cx="315468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</a:ln>
        </p:spPr>
        <p:txBody>
          <a:bodyPr wrap="square" lIns="91440" tIns="45720" rIns="91440" bIns="45720"/>
          <a:lstStyle/>
          <a:p>
            <a:r>
              <a:rPr lang="en-US" sz="1650" b="1" dirty="0" smtClean="0">
                <a:solidFill>
                  <a:srgbClr val="0F172A"/>
                </a:solidFill>
              </a:rPr>
              <a:t>Runtime structure</a:t>
            </a:r>
          </a:p>
          <a:p>
            <a:r>
              <a:rPr lang="en-US" sz="1650" b="1" dirty="0" smtClean="0">
                <a:solidFill>
                  <a:srgbClr val="0F172A"/>
                </a:solidFill>
              </a:rPr>
              <a:t>Web layer</a:t>
            </a:r>
          </a:p>
          <a:p>
            <a:r>
              <a:rPr lang="en-US" sz="1650" b="1" dirty="0" smtClean="0">
                <a:solidFill>
                  <a:srgbClr val="0F172A"/>
                </a:solidFill>
              </a:rPr>
              <a:t>↓</a:t>
            </a:r>
          </a:p>
          <a:p>
            <a:r>
              <a:rPr lang="en-US" sz="1650" b="1" dirty="0" smtClean="0">
                <a:solidFill>
                  <a:srgbClr val="0F172A"/>
                </a:solidFill>
              </a:rPr>
              <a:t>Planner / Executor / Reviewer</a:t>
            </a:r>
          </a:p>
          <a:p>
            <a:r>
              <a:rPr lang="en-US" sz="1650" b="1" dirty="0" smtClean="0">
                <a:solidFill>
                  <a:srgbClr val="0F172A"/>
                </a:solidFill>
              </a:rPr>
              <a:t>↓</a:t>
            </a:r>
          </a:p>
          <a:p>
            <a:r>
              <a:rPr lang="en-US" sz="1650" b="1" dirty="0" smtClean="0">
                <a:solidFill>
                  <a:srgbClr val="0F172A"/>
                </a:solidFill>
              </a:rPr>
              <a:t>SQLite + TTT + Execution + Review</a:t>
            </a:r>
          </a:p>
        </p:txBody>
      </p:sp>
      <p:sp>
        <p:nvSpPr>
          <p:cNvPr id="6" name="Bottom"/>
          <p:cNvSpPr txBox="1"/>
          <p:nvPr/>
        </p:nvSpPr>
        <p:spPr>
          <a:xfrm>
            <a:off x="640080" y="4754880"/>
            <a:ext cx="109270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r>
              <a:rPr lang="en-US" sz="1600" b="0" dirty="0" smtClean="0">
                <a:solidFill>
                  <a:srgbClr val="334155"/>
                </a:solidFill>
              </a:rPr>
              <a:t>The current system is not a static demo page. It is a runnable prototype where the frontend and backend consume real runtime state together.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2600" b="1" dirty="0" smtClean="0">
                <a:solidFill>
                  <a:srgbClr val="0F172A"/>
                </a:solidFill>
              </a:rPr>
              <a:t>4. UI Preview and Next Steps</a:t>
            </a:r>
          </a:p>
        </p:txBody>
      </p:sp>
      <p:sp>
        <p:nvSpPr>
          <p:cNvPr id="3" name="HomeFrame"/>
          <p:cNvSpPr txBox="1"/>
          <p:nvPr/>
        </p:nvSpPr>
        <p:spPr>
          <a:xfrm>
            <a:off x="731520" y="13258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lIns="91440" tIns="45720" rIns="91440" bIns="45720"/>
          <a:lstStyle/>
          <a:p>
            <a:r>
              <a:rPr lang="en-US" sz="2400" b="0" dirty="0" smtClean="0">
                <a:solidFill>
                  <a:srgbClr val="1F2937"/>
                </a:solidFill>
              </a:rPr>
              <a:t> </a:t>
            </a:r>
          </a:p>
        </p:txBody>
      </p:sp>
      <p:sp>
        <p:nvSpPr>
          <p:cNvPr id="4" name="HomeNav"/>
          <p:cNvSpPr txBox="1"/>
          <p:nvPr/>
        </p:nvSpPr>
        <p:spPr>
          <a:xfrm>
            <a:off x="914400" y="1554480"/>
            <a:ext cx="329184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500" b="1" dirty="0" smtClean="0">
                <a:solidFill>
                  <a:srgbClr val="FFFFFF"/>
                </a:solidFill>
              </a:rPr>
              <a:t>SOCAgent Home</a:t>
            </a:r>
          </a:p>
        </p:txBody>
      </p:sp>
      <p:sp>
        <p:nvSpPr>
          <p:cNvPr id="5" name="HomeLeft"/>
          <p:cNvSpPr txBox="1"/>
          <p:nvPr/>
        </p:nvSpPr>
        <p:spPr>
          <a:xfrm>
            <a:off x="960120" y="2148840"/>
            <a:ext cx="1280160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txBody>
          <a:bodyPr wrap="square" lIns="91440" tIns="45720" rIns="91440" bIns="45720"/>
          <a:lstStyle/>
          <a:p>
            <a:r>
              <a:rPr lang="en-US" sz="1700" b="1" dirty="0" smtClean="0">
                <a:solidFill>
                  <a:srgbClr val="0F172A"/>
                </a:solidFill>
              </a:rPr>
              <a:t>Event Form</a:t>
            </a:r>
          </a:p>
        </p:txBody>
      </p:sp>
      <p:sp>
        <p:nvSpPr>
          <p:cNvPr id="6" name="HomeRight"/>
          <p:cNvSpPr txBox="1"/>
          <p:nvPr/>
        </p:nvSpPr>
        <p:spPr>
          <a:xfrm>
            <a:off x="2423160" y="2148840"/>
            <a:ext cx="173736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91440" tIns="45720" rIns="91440" bIns="45720"/>
          <a:lstStyle/>
          <a:p>
            <a:r>
              <a:rPr lang="en-US" sz="1450" b="0" dirty="0" smtClean="0">
                <a:solidFill>
                  <a:srgbClr val="0F172A"/>
                </a:solidFill>
              </a:rPr>
              <a:t>Event List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 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View created investigations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by status and time</a:t>
            </a:r>
          </a:p>
        </p:txBody>
      </p:sp>
      <p:sp>
        <p:nvSpPr>
          <p:cNvPr id="7" name="HomeNote"/>
          <p:cNvSpPr txBox="1"/>
          <p:nvPr/>
        </p:nvSpPr>
        <p:spPr>
          <a:xfrm>
            <a:off x="868680" y="498348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350" b="0" dirty="0" smtClean="0">
                <a:solidFill>
                  <a:srgbClr val="334155"/>
                </a:solidFill>
              </a:rPr>
              <a:t>Home page</a:t>
            </a:r>
          </a:p>
          <a:p>
            <a:r>
              <a:rPr lang="en-US" sz="1350" b="0" dirty="0" smtClean="0">
                <a:solidFill>
                  <a:srgbClr val="334155"/>
                </a:solidFill>
              </a:rPr>
              <a:t>• Create security events</a:t>
            </a:r>
          </a:p>
          <a:p>
            <a:r>
              <a:rPr lang="en-US" sz="1350" b="0" dirty="0" smtClean="0">
                <a:solidFill>
                  <a:srgbClr val="334155"/>
                </a:solidFill>
              </a:rPr>
              <a:t>• View the event list</a:t>
            </a:r>
          </a:p>
          <a:p>
            <a:r>
              <a:rPr lang="en-US" sz="1350" b="0" dirty="0" smtClean="0">
                <a:solidFill>
                  <a:srgbClr val="334155"/>
                </a:solidFill>
              </a:rPr>
              <a:t>• Enter a single-event war room</a:t>
            </a:r>
          </a:p>
        </p:txBody>
      </p:sp>
      <p:sp>
        <p:nvSpPr>
          <p:cNvPr id="8" name="WarFrame"/>
          <p:cNvSpPr txBox="1"/>
          <p:nvPr/>
        </p:nvSpPr>
        <p:spPr>
          <a:xfrm>
            <a:off x="4709160" y="1325880"/>
            <a:ext cx="3840480" cy="3474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txBody>
          <a:bodyPr wrap="square" lIns="91440" tIns="45720" rIns="91440" bIns="45720"/>
          <a:lstStyle/>
          <a:p>
            <a:r>
              <a:rPr lang="en-US" sz="2400" b="0" dirty="0" smtClean="0">
                <a:solidFill>
                  <a:srgbClr val="1F2937"/>
                </a:solidFill>
              </a:rPr>
              <a:t> </a:t>
            </a:r>
          </a:p>
        </p:txBody>
      </p:sp>
      <p:sp>
        <p:nvSpPr>
          <p:cNvPr id="9" name="WarHeader"/>
          <p:cNvSpPr txBox="1"/>
          <p:nvPr/>
        </p:nvSpPr>
        <p:spPr>
          <a:xfrm>
            <a:off x="4892040" y="1554480"/>
            <a:ext cx="34747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500" b="1" dirty="0" smtClean="0">
                <a:solidFill>
                  <a:srgbClr val="FFFFFF"/>
                </a:solidFill>
              </a:rPr>
              <a:t>SOCAgent War Room</a:t>
            </a:r>
          </a:p>
        </p:txBody>
      </p:sp>
      <p:sp>
        <p:nvSpPr>
          <p:cNvPr id="10" name="WarMain"/>
          <p:cNvSpPr txBox="1"/>
          <p:nvPr/>
        </p:nvSpPr>
        <p:spPr>
          <a:xfrm>
            <a:off x="4937760" y="2148840"/>
            <a:ext cx="23317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45720" rIns="91440" bIns="45720"/>
          <a:lstStyle/>
          <a:p>
            <a:r>
              <a:rPr lang="en-US" sz="1450" b="0" dirty="0" smtClean="0">
                <a:solidFill>
                  <a:srgbClr val="E2E8F0"/>
                </a:solidFill>
              </a:rPr>
              <a:t>Message Stream</a:t>
            </a:r>
          </a:p>
          <a:p>
            <a:r>
              <a:rPr lang="en-US" sz="1450" b="0" dirty="0" smtClean="0">
                <a:solidFill>
                  <a:srgbClr val="E2E8F0"/>
                </a:solidFill>
              </a:rPr>
              <a:t> </a:t>
            </a:r>
          </a:p>
          <a:p>
            <a:r>
              <a:rPr lang="en-US" sz="1450" b="0" dirty="0" smtClean="0">
                <a:solidFill>
                  <a:srgbClr val="E2E8F0"/>
                </a:solidFill>
              </a:rPr>
              <a:t>Planner / Executor /</a:t>
            </a:r>
          </a:p>
          <a:p>
            <a:r>
              <a:rPr lang="en-US" sz="1450" b="0" dirty="0" smtClean="0">
                <a:solidFill>
                  <a:srgbClr val="E2E8F0"/>
                </a:solidFill>
              </a:rPr>
              <a:t>Reviewer collaboration</a:t>
            </a:r>
          </a:p>
        </p:txBody>
      </p:sp>
      <p:sp>
        <p:nvSpPr>
          <p:cNvPr id="11" name="WarSide"/>
          <p:cNvSpPr txBox="1"/>
          <p:nvPr/>
        </p:nvSpPr>
        <p:spPr>
          <a:xfrm>
            <a:off x="7452360" y="2148840"/>
            <a:ext cx="91440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 wrap="square" lIns="91440" tIns="45720" rIns="91440" bIns="45720"/>
          <a:lstStyle/>
          <a:p>
            <a:r>
              <a:rPr lang="en-US" sz="1350" b="0" dirty="0" smtClean="0">
                <a:solidFill>
                  <a:srgbClr val="E2E8F0"/>
                </a:solidFill>
              </a:rPr>
              <a:t>Status</a:t>
            </a:r>
          </a:p>
          <a:p>
            <a:r>
              <a:rPr lang="en-US" sz="1350" b="0" dirty="0" smtClean="0">
                <a:solidFill>
                  <a:srgbClr val="E2E8F0"/>
                </a:solidFill>
              </a:rPr>
              <a:t> </a:t>
            </a:r>
          </a:p>
          <a:p>
            <a:r>
              <a:rPr lang="en-US" sz="1350" b="0" dirty="0" smtClean="0">
                <a:solidFill>
                  <a:srgbClr val="E2E8F0"/>
                </a:solidFill>
              </a:rPr>
              <a:t>Round</a:t>
            </a:r>
          </a:p>
          <a:p>
            <a:r>
              <a:rPr lang="en-US" sz="1350" b="0" dirty="0" smtClean="0">
                <a:solidFill>
                  <a:srgbClr val="E2E8F0"/>
                </a:solidFill>
              </a:rPr>
              <a:t>Leaves</a:t>
            </a:r>
          </a:p>
          <a:p>
            <a:r>
              <a:rPr lang="en-US" sz="1350" b="0" dirty="0" smtClean="0">
                <a:solidFill>
                  <a:srgbClr val="E2E8F0"/>
                </a:solidFill>
              </a:rPr>
              <a:t>Execs</a:t>
            </a:r>
          </a:p>
          <a:p>
            <a:r>
              <a:rPr lang="en-US" sz="1350" b="0" dirty="0" smtClean="0">
                <a:solidFill>
                  <a:srgbClr val="E2E8F0"/>
                </a:solidFill>
              </a:rPr>
              <a:t>Roles</a:t>
            </a:r>
          </a:p>
        </p:txBody>
      </p:sp>
      <p:sp>
        <p:nvSpPr>
          <p:cNvPr id="12" name="WarNote"/>
          <p:cNvSpPr txBox="1"/>
          <p:nvPr/>
        </p:nvSpPr>
        <p:spPr>
          <a:xfrm>
            <a:off x="4846320" y="4983480"/>
            <a:ext cx="356616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300" b="0" dirty="0" smtClean="0">
                <a:solidFill>
                  <a:srgbClr val="334155"/>
                </a:solidFill>
              </a:rPr>
              <a:t>War Room</a:t>
            </a:r>
          </a:p>
          <a:p>
            <a:r>
              <a:rPr lang="en-US" sz="1300" b="0" dirty="0" smtClean="0">
                <a:solidFill>
                  <a:srgbClr val="334155"/>
                </a:solidFill>
              </a:rPr>
              <a:t>• Event details and status</a:t>
            </a:r>
          </a:p>
          <a:p>
            <a:r>
              <a:rPr lang="en-US" sz="1300" b="0" dirty="0" smtClean="0">
                <a:solidFill>
                  <a:srgbClr val="334155"/>
                </a:solidFill>
              </a:rPr>
              <a:t>• Three-role message stream</a:t>
            </a:r>
          </a:p>
          <a:p>
            <a:r>
              <a:rPr lang="en-US" sz="1300" b="0" dirty="0" smtClean="0">
                <a:solidFill>
                  <a:srgbClr val="334155"/>
                </a:solidFill>
              </a:rPr>
              <a:t>• TTT hierarchy</a:t>
            </a:r>
          </a:p>
          <a:p>
            <a:r>
              <a:rPr lang="en-US" sz="1300" b="0" dirty="0" smtClean="0">
                <a:solidFill>
                  <a:srgbClr val="334155"/>
                </a:solidFill>
              </a:rPr>
              <a:t>• Execution records and round reviews</a:t>
            </a:r>
          </a:p>
          <a:p>
            <a:r>
              <a:rPr lang="en-US" sz="1300" b="0" dirty="0" smtClean="0">
                <a:solidFill>
                  <a:srgbClr val="334155"/>
                </a:solidFill>
              </a:rPr>
              <a:t>• Socket.IO real-time updates</a:t>
            </a:r>
          </a:p>
        </p:txBody>
      </p:sp>
      <p:sp>
        <p:nvSpPr>
          <p:cNvPr id="13" name="NextSteps"/>
          <p:cNvSpPr txBox="1"/>
          <p:nvPr/>
        </p:nvSpPr>
        <p:spPr>
          <a:xfrm>
            <a:off x="8869680" y="1325880"/>
            <a:ext cx="2468880" cy="4297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91440" tIns="45720" rIns="91440" bIns="45720"/>
          <a:lstStyle/>
          <a:p>
            <a:r>
              <a:rPr lang="en-US" sz="1450" b="0" dirty="0" smtClean="0">
                <a:solidFill>
                  <a:srgbClr val="0F172A"/>
                </a:solidFill>
              </a:rPr>
              <a:t>Next steps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• Keep testing different alert types on BOTS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• Improve TTT quality and Splunk query generation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• Expand callable security tools</a:t>
            </a:r>
          </a:p>
          <a:p>
            <a:r>
              <a:rPr lang="en-US" sz="1450" b="0" dirty="0" smtClean="0">
                <a:solidFill>
                  <a:srgbClr val="0F172A"/>
                </a:solidFill>
              </a:rPr>
              <a:t>• Add more standardized tests and stronger UI observability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DC2626"/>
      </a:accent3>
      <a:accent4>
        <a:srgbClr val="F59E0B"/>
      </a:accent4>
      <a:accent5>
        <a:srgbClr val="7C3AED"/>
      </a:accent5>
      <a:accent6>
        <a:srgbClr val="0EA5E9"/>
      </a:accent6>
      <a:hlink>
        <a:srgbClr val="2563EB"/>
      </a:hlink>
      <a:folHlink>
        <a:srgbClr val="7C3AE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5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5</vt:i4>
      </vt:variant>
    </vt:vector>
  </HeadingPairs>
  <TitlesOfParts>
    <vt:vector size="5" baseType="lpstr"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SOCAgent Progress Report</dc:title>
  <dc:creator>Codex</dc:creator>
  <cp:lastModifiedBy>Codex</cp:lastModifiedBy>
  <dcterms:created xsi:type="dcterms:W3CDTF">2026-06-08T10:38:00Z</dcterms:created>
  <dcterms:modified xsi:type="dcterms:W3CDTF">2026-06-08T10:38:00Z</dcterms:modified>
</cp:coreProperties>
</file>